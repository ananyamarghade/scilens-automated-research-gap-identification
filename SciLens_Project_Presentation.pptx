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7"/>
    <p:sldId id="260" r:id="rId6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ZmF6qK15dp2J2df4VwJECGC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3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670048"/>
            <a:ext cx="12192000" cy="107899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109728" rIns="91425" bIns="45700" anchor="ctr" anchorCtr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imes New Roman"/>
              </a:defRPr>
            </a:pPr>
            <a:r>
              <a:t>SciLens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An Agentic AI System for Automated Research Gap Identification and Research Intelligence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Symbiosis Institute of Technology (SIT), Nagpur Campus</a:t>
            </a:r>
            <a:br/>
            <a:r>
              <a:t>Symbiosis International (Deemed University), Pune</a:t>
            </a: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defRPr sz="3800" b="1">
                <a:solidFill>
                  <a:srgbClr val="000099"/>
                </a:solidFill>
                <a:latin typeface="Times New Roman"/>
              </a:defRPr>
            </a:pPr>
            <a:r>
              <a:t>B.Tech Project Presentation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3913632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Presenter: Ananya Marghade  (PRN: 24070521004)</a:t>
            </a:r>
          </a:p>
          <a:p>
            <a:pPr algn="ctr">
              <a:spcBef>
                <a:spcPts val="400"/>
              </a:spcBef>
              <a:defRPr sz="1500">
                <a:solidFill>
                  <a:srgbClr val="0B5394"/>
                </a:solidFill>
                <a:latin typeface="Times New Roman"/>
              </a:defRPr>
            </a:pPr>
            <a:r>
              <a:t>Semester VI  |  Department of Computer Science &amp; Engineering</a:t>
            </a:r>
          </a:p>
          <a:p>
            <a:pPr algn="ctr">
              <a:spcBef>
                <a:spcPts val="600"/>
              </a:spcBef>
              <a:defRPr sz="1400" i="1">
                <a:solidFill>
                  <a:srgbClr val="64748B"/>
                </a:solidFill>
                <a:latin typeface="Times New Roman"/>
              </a:defRPr>
            </a:pPr>
            <a:r>
              <a:t>Under the guidance of</a:t>
            </a:r>
          </a:p>
          <a:p>
            <a:pPr algn="ctr">
              <a:spcBef>
                <a:spcPts val="300"/>
              </a:spcBef>
              <a:defRPr sz="1600" b="1">
                <a:solidFill>
                  <a:srgbClr val="000099"/>
                </a:solidFill>
                <a:latin typeface="Times New Roman"/>
              </a:defRPr>
            </a:pPr>
            <a:r>
              <a:t>Dr. / Prof. [Faculty Guide Name]</a:t>
            </a:r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01. Problem Statements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Why identifying genuine research gaps is challenging and where conventional literature review fails.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188720"/>
            <a:ext cx="3401568" cy="489204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29844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1. Exponential Literature Overload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Volume &amp; Fragmentation Bottleneck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96112" y="1965960"/>
            <a:ext cx="30723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Volume Bottleneck: </a:t>
            </a:r>
            <a:r>
              <a:rPr sz="1100">
                <a:solidFill>
                  <a:srgbClr val="1E293B"/>
                </a:solidFill>
                <a:latin typeface="Calibri"/>
              </a:rPr>
              <a:t>Over 5 million academic papers are published annually across diverse disciplines.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Manual Screening Cost: </a:t>
            </a:r>
            <a:r>
              <a:rPr sz="1100">
                <a:solidFill>
                  <a:srgbClr val="1E293B"/>
                </a:solidFill>
                <a:latin typeface="Calibri"/>
              </a:rPr>
              <a:t>Researchers spend 40% to 60% of total research time manually searching, filtering, and reading papers.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Fragmented Silos: </a:t>
            </a:r>
            <a:r>
              <a:rPr sz="1100">
                <a:solidFill>
                  <a:srgbClr val="1E293B"/>
                </a:solidFill>
                <a:latin typeface="Calibri"/>
              </a:rPr>
              <a:t>Vital empirical findings are scattered across disconnected databases (arXiv, OpenAlex, PubMed, CrossRef).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Shallow Coverage: </a:t>
            </a:r>
            <a:r>
              <a:rPr sz="1100">
                <a:solidFill>
                  <a:srgbClr val="1E293B"/>
                </a:solidFill>
                <a:latin typeface="Calibri"/>
              </a:rPr>
              <a:t>Traditional keyword searches miss critical cross-domain analogies, latent patterns, and emerging breakthroughs.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379976" y="1188720"/>
            <a:ext cx="3401568" cy="489204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526280" y="129844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2. The Research Gap Dilemma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Subjectivity &amp; Verification Vacuum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544568" y="1965960"/>
            <a:ext cx="30723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Subjective Formulation: </a:t>
            </a:r>
            <a:r>
              <a:rPr sz="1100">
                <a:solidFill>
                  <a:srgbClr val="1E293B"/>
                </a:solidFill>
                <a:latin typeface="Calibri"/>
              </a:rPr>
              <a:t>Research gaps are frequently based on intuition or limited reading, leading to duplicate and redundant efforts.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Verification Vacuum: </a:t>
            </a:r>
            <a:r>
              <a:rPr sz="1100">
                <a:solidFill>
                  <a:srgbClr val="1E293B"/>
                </a:solidFill>
                <a:latin typeface="Calibri"/>
              </a:rPr>
              <a:t>No automated mechanism exists to verify whether a proposed gap has already been solved in recent literature.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Unresolved Contradictions: </a:t>
            </a:r>
            <a:r>
              <a:rPr sz="1100">
                <a:solidFill>
                  <a:srgbClr val="1E293B"/>
                </a:solidFill>
                <a:latin typeface="Calibri"/>
              </a:rPr>
              <a:t>Opposing empirical findings between studies remain undetected without systematic comparative analysis.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Multi-Dimensional Neglect: </a:t>
            </a:r>
            <a:r>
              <a:rPr sz="1100">
                <a:solidFill>
                  <a:srgbClr val="1E293B"/>
                </a:solidFill>
                <a:latin typeface="Calibri"/>
              </a:rPr>
              <a:t>Focuses narrowly on algorithmic gaps while ignoring population, geographic, temporal, and dataset voids.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028432" y="1188720"/>
            <a:ext cx="3401568" cy="489204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174736" y="129844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3. Generic LLM Pitfalls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Ungrounded Generative AI Failures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193024" y="1965960"/>
            <a:ext cx="30723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Severe Hallucinations: </a:t>
            </a:r>
            <a:r>
              <a:rPr sz="1100">
                <a:solidFill>
                  <a:srgbClr val="1E293B"/>
                </a:solidFill>
                <a:latin typeface="Calibri"/>
              </a:rPr>
              <a:t>Commercial LLMs invent non-existent paper titles, fictitious author names, and fabricated DOIs.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No Traceable Provenance: </a:t>
            </a:r>
            <a:r>
              <a:rPr sz="1100">
                <a:solidFill>
                  <a:srgbClr val="1E293B"/>
                </a:solidFill>
                <a:latin typeface="Calibri"/>
              </a:rPr>
              <a:t>Generative text summaries lack section-aware, page-grounded attribution to actual PDF literature.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Passive Sycophancy: </a:t>
            </a:r>
            <a:r>
              <a:rPr sz="1100">
                <a:solidFill>
                  <a:srgbClr val="1E293B"/>
                </a:solidFill>
                <a:latin typeface="Calibri"/>
              </a:rPr>
              <a:t>Standard models uncritically validate user premises rather than adversarial stress-testing of candidate gaps.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 Context Truncation: </a:t>
            </a:r>
            <a:r>
              <a:rPr sz="1100">
                <a:solidFill>
                  <a:srgbClr val="1E293B"/>
                </a:solidFill>
                <a:latin typeface="Calibri"/>
              </a:rPr>
              <a:t>Cannot systematically orchestrate retrieval and iterative re-querying across multi-paper corpora.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02. Research Initiatives / Objectives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Core research objectives and intelligence capabilities designed for autonomous, evidence-grounded gap discovery.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3401568" cy="23317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1. Autonomous Literature Harvesting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Develop multi-provider harvesting across OpenAlex, arXiv, CrossRef, and PubMed with legal full-text acquisition and PDF sanitization.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4379976" y="1234440"/>
            <a:ext cx="3401568" cy="23317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526280" y="1344168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2. Section-Aware Extraction &amp; RAG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Engineer a section-aware PDF parser preserving page numbers and section headers in a persistent FAISS vector index with embeddings.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8028432" y="1234440"/>
            <a:ext cx="3401568" cy="23317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174736" y="1344168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3. Multi-Dimensional Landscape Synthesis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Synthesize research landscapes capturing thematic clusters, chronological trends, methodology breakdowns, and paper relationship networks.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731520" y="3749039"/>
            <a:ext cx="3401568" cy="23317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77824" y="3858767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4. 9-Dimensional Gap Detection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Detect research gaps across 9 dimensions: methodological, population, geographic, contextual, temporal, theoretical, tech, data, and contradictions.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379976" y="3749039"/>
            <a:ext cx="3401568" cy="2331720"/>
          </a:xfrm>
          <a:prstGeom prst="roundRect">
            <a:avLst/>
          </a:prstGeom>
          <a:solidFill>
            <a:srgbClr val="EEF5FE"/>
          </a:solidFill>
          <a:ln w="15240">
            <a:solidFill>
              <a:srgbClr val="0B5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526280" y="3858767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5. Cyclic Critic &amp; Investigator Loop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Implement a cyclic LangGraph StateGraph where candidate gaps undergo adversarial critique and targeted discovery until validated.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8028432" y="3749039"/>
            <a:ext cx="3401568" cy="23317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174736" y="3858767"/>
            <a:ext cx="3108960" cy="2112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6. Research Framework &amp; Proposal Drafting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Formulate research questions, testable hypotheses, claim-verified proposal drafts, and citations across 6 major academic styles.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03. Existing processes/Solutions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Analysis of current tools and conventional workflows for literature review and research gap discovery.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2523744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22311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1. Academic Search Engines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Google Scholar, PubMed, Scopus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59536" y="1984248"/>
            <a:ext cx="2267712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Massive bibliographic indices, keyword matching, citation counts.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Limitation: </a:t>
            </a:r>
            <a:r>
              <a:rPr sz="1000">
                <a:solidFill>
                  <a:srgbClr val="1E293B"/>
                </a:solidFill>
                <a:latin typeface="Calibri"/>
              </a:rPr>
              <a:t>Passive retrieval only; cannot identify what is missing or cross-synthesize findings.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Workflow Gap: </a:t>
            </a:r>
            <a:r>
              <a:rPr sz="1000">
                <a:solidFill>
                  <a:srgbClr val="1E293B"/>
                </a:solidFill>
                <a:latin typeface="Calibri"/>
              </a:rPr>
              <a:t>Requires researchers to manually read and compare hundreds of search results.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3456432" y="1234440"/>
            <a:ext cx="2523744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602736" y="1344168"/>
            <a:ext cx="22311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2. Citation Network Graphs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Connected Papers, ResearchRabbit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584448" y="1984248"/>
            <a:ext cx="2267712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Visualizes citation trees, co-citations, and derivative works.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Limitation: </a:t>
            </a:r>
            <a:r>
              <a:rPr sz="1000">
                <a:solidFill>
                  <a:srgbClr val="1E293B"/>
                </a:solidFill>
                <a:latin typeface="Calibri"/>
              </a:rPr>
              <a:t>Graph topology only; cannot read, analyze, or reason over actual paper contents.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Workflow Gap: </a:t>
            </a:r>
            <a:r>
              <a:rPr sz="1000">
                <a:solidFill>
                  <a:srgbClr val="1E293B"/>
                </a:solidFill>
                <a:latin typeface="Calibri"/>
              </a:rPr>
              <a:t>Fails to detect empirical contradictions, methodology voids, or sample biases.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6181344" y="1234440"/>
            <a:ext cx="2523744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327648" y="1344168"/>
            <a:ext cx="22311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3. AI Reading Assistants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SciSpace, ChatPDF, Elicit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309360" y="1984248"/>
            <a:ext cx="2267712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Single-paper question answering, abstract summarization.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Limitation: </a:t>
            </a:r>
            <a:r>
              <a:rPr sz="1000">
                <a:solidFill>
                  <a:srgbClr val="1E293B"/>
                </a:solidFill>
                <a:latin typeface="Calibri"/>
              </a:rPr>
              <a:t>Disconnected, single-paper context; cannot synthesize across multi-paper corpora.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Workflow Gap: </a:t>
            </a:r>
            <a:r>
              <a:rPr sz="1000">
                <a:solidFill>
                  <a:srgbClr val="1E293B"/>
                </a:solidFill>
                <a:latin typeface="Calibri"/>
              </a:rPr>
              <a:t>Lacks iterative adversarial critique; passively accepts user assumptions.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8906256" y="1234440"/>
            <a:ext cx="2523744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052560" y="1344168"/>
            <a:ext cx="22311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4. Manual Human Review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Spreadsheets, Note-taking, Mendeley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034272" y="1984248"/>
            <a:ext cx="2267712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Deep domain intuition, contextual reasoning by experienced researchers.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Limitation: </a:t>
            </a:r>
            <a:r>
              <a:rPr sz="1000">
                <a:solidFill>
                  <a:srgbClr val="1E293B"/>
                </a:solidFill>
                <a:latin typeface="Calibri"/>
              </a:rPr>
              <a:t>Severe human bandwidth bottleneck; highly time-consuming (months per review).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Workflow Gap: </a:t>
            </a:r>
            <a:r>
              <a:rPr sz="1000">
                <a:solidFill>
                  <a:srgbClr val="1E293B"/>
                </a:solidFill>
                <a:latin typeface="Calibri"/>
              </a:rPr>
              <a:t>Prone to confirmation bias and missing obscure counter-evidence in preprints.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04. Compare &amp; contrast alternative solution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Multi-dimensional comparative evaluation: Manual Review vs Generic LLMs vs Existing AI Tools vs SciLens.</a:t>
            </a:r>
          </a:p>
        </p:txBody>
      </p:sp>
      <p:graphicFrame>
        <p:nvGraphicFramePr>
          <p:cNvPr id="255" name="Table 254"/>
          <p:cNvGraphicFramePr>
            <a:graphicFrameLocks noGrp="1"/>
          </p:cNvGraphicFramePr>
          <p:nvPr/>
        </p:nvGraphicFramePr>
        <p:xfrm>
          <a:off x="731520" y="12344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0040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Generic LLMs (ChatGPT)</a:t>
                      </a:r>
                    </a:p>
                  </a:txBody>
                  <a:tcP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SciLens Agentic System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99"/>
                          </a:solidFill>
                          <a:latin typeface="Calibri"/>
                        </a:defRPr>
                      </a:pPr>
                      <a:r>
                        <a:t>Literature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keyword browsing; fragmented across database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Single-prompt input; severe context window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5394"/>
                          </a:solidFill>
                          <a:latin typeface="Calibri"/>
                        </a:defRPr>
                      </a:pPr>
                      <a:r>
                        <a:t>Autonomous multi-source harvesting (OpenAlex, arXiv, CrossRef) + PDF upload</a:t>
                      </a:r>
                    </a:p>
                  </a:txBody>
                  <a:tcPr>
                    <a:solidFill>
                      <a:srgbClr val="F0F6F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99"/>
                          </a:solidFill>
                          <a:latin typeface="Calibri"/>
                        </a:defRPr>
                      </a:pPr>
                      <a:r>
                        <a:t>Evidence Traceability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highlights and bookmarks; prone to human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hallucination rate; invented citations and authors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5394"/>
                          </a:solidFill>
                          <a:latin typeface="Calibri"/>
                        </a:defRPr>
                      </a:pPr>
                      <a:r>
                        <a:t>100% grounded RAG with exact section titles and page-level provenance in FAISS</a:t>
                      </a:r>
                    </a:p>
                  </a:txBody>
                  <a:tcPr>
                    <a:solidFill>
                      <a:srgbClr val="E6F0F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99"/>
                          </a:solidFill>
                          <a:latin typeface="Calibri"/>
                        </a:defRPr>
                      </a:pPr>
                      <a:r>
                        <a:t>Research Gap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Subjective intuition; narrow focus on familiar 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Generic, surface-level textual summaries; no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5394"/>
                          </a:solidFill>
                          <a:latin typeface="Calibri"/>
                        </a:defRPr>
                      </a:pPr>
                      <a:r>
                        <a:t>Systematic detection across 9 gap dimensions + empirical contradiction analysis</a:t>
                      </a:r>
                    </a:p>
                  </a:txBody>
                  <a:tcPr>
                    <a:solidFill>
                      <a:srgbClr val="F0F6F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99"/>
                          </a:solidFill>
                          <a:latin typeface="Calibri"/>
                        </a:defRPr>
                      </a:pPr>
                      <a:r>
                        <a:t>Validation &amp; Novelty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None; discovered during painful peer-review cycles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Uncritical agreement; cannot test counter-evidence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5394"/>
                          </a:solidFill>
                          <a:latin typeface="Calibri"/>
                        </a:defRPr>
                      </a:pPr>
                      <a:r>
                        <a:t>Autonomous cyclic LangGraph Critic &amp; Investigator loop with confidence scores</a:t>
                      </a:r>
                    </a:p>
                  </a:txBody>
                  <a:tcPr>
                    <a:solidFill>
                      <a:srgbClr val="E6F0F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99"/>
                          </a:solidFill>
                          <a:latin typeface="Calibri"/>
                        </a:defRPr>
                      </a:pPr>
                      <a:r>
                        <a:t>Actionable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Unstructured manual notes and static spreadsheets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Disconnected text fragments; no structured frameworks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5394"/>
                          </a:solidFill>
                          <a:latin typeface="Calibri"/>
                        </a:defRPr>
                      </a:pPr>
                      <a:r>
                        <a:t>Automated RQs, objectives, hypotheses, verified proposal drafts &amp; 6 citation styles</a:t>
                      </a:r>
                    </a:p>
                  </a:txBody>
                  <a:tcPr>
                    <a:solidFill>
                      <a:srgbClr val="F0F6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05. Problem Modeling and Algorithm Development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LangGraph StateGraph orchestration, cyclic routing state machine, and section-aware RAG algorithm.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34015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1. LangGraph StateGraph Architecture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Multi-Agent Cyclic Workflow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68680" y="1984248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Shared State Schema: </a:t>
            </a:r>
            <a:r>
              <a:rPr sz="1050">
                <a:solidFill>
                  <a:srgbClr val="1E293B"/>
                </a:solidFill>
                <a:latin typeface="Calibri"/>
              </a:rPr>
              <a:t>ResearchState schema maintains research_id, papers, clusters, candidate_gaps, critic_evals, and iteration counter.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Sequential Pipeline: </a:t>
            </a:r>
            <a:r>
              <a:rPr sz="1050">
                <a:solidFill>
                  <a:srgbClr val="1E293B"/>
                </a:solidFill>
                <a:latin typeface="Calibri"/>
              </a:rPr>
              <a:t>planner -&gt; literature -&gt; analysis -&gt; landscape -&gt; gap_detection -&gt; evidence_critic.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Cyclic Routing Logic: </a:t>
            </a:r>
            <a:r>
              <a:rPr sz="1050">
                <a:solidFill>
                  <a:srgbClr val="1E293B"/>
                </a:solidFill>
                <a:latin typeface="Calibri"/>
              </a:rPr>
              <a:t>Router should_investigate_gaps checks if candidate gaps are uncorroborated and iteration &lt; max_iterations (default 3).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Terminal Delivery: </a:t>
            </a:r>
            <a:r>
              <a:rPr sz="1050">
                <a:solidFill>
                  <a:srgbClr val="1E293B"/>
                </a:solidFill>
                <a:latin typeface="Calibri"/>
              </a:rPr>
              <a:t>Once validated or bounded, transitions to research_development -&gt; draft -&gt; END.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379976" y="1234440"/>
            <a:ext cx="3401568" cy="4846320"/>
          </a:xfrm>
          <a:prstGeom prst="roundRect">
            <a:avLst/>
          </a:prstGeom>
          <a:solidFill>
            <a:srgbClr val="EEF5FE"/>
          </a:solidFill>
          <a:ln w="1524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526280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2. Evidence Critic &amp; Validation Logic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Adversarial Stress-Testing Algorithm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517136" y="1984248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Grounding Formulation: </a:t>
            </a:r>
            <a:r>
              <a:rPr sz="1050">
                <a:solidFill>
                  <a:srgbClr val="1E293B"/>
                </a:solidFill>
                <a:latin typeface="Calibri"/>
              </a:rPr>
              <a:t>Evaluates evidence items: calculates ratio of supporting vs counter-evidence across unique papers.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Adversarial Verification: </a:t>
            </a:r>
            <a:r>
              <a:rPr sz="1050">
                <a:solidFill>
                  <a:srgbClr val="1E293B"/>
                </a:solidFill>
                <a:latin typeface="Calibri"/>
              </a:rPr>
              <a:t>Evidence Critic actively flags missing empirical dimensions and generates targeted search queries.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Contradiction Engine: </a:t>
            </a:r>
            <a:r>
              <a:rPr sz="1050">
                <a:solidFill>
                  <a:srgbClr val="1E293B"/>
                </a:solidFill>
                <a:latin typeface="Calibri"/>
              </a:rPr>
              <a:t>Detects directly conflicting claims between papers; classifies gaps into VALID, CONTESTED, or SUPPORTED.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Iterative Self-Correction: </a:t>
            </a:r>
            <a:r>
              <a:rPr sz="1050">
                <a:solidFill>
                  <a:srgbClr val="1E293B"/>
                </a:solidFill>
                <a:latin typeface="Calibri"/>
              </a:rPr>
              <a:t>Gap Investigator triggers targeted discovery, downloads full-text PDFs, and embeds chunks into FAISS.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028432" y="1234440"/>
            <a:ext cx="34015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174736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3. Section-Aware RAG Algorithm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Zero-Hallucination Vector Provenance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165592" y="1984248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Section-Aware Parsing: </a:t>
            </a:r>
            <a:r>
              <a:rPr sz="1050">
                <a:solidFill>
                  <a:srgbClr val="1E293B"/>
                </a:solidFill>
                <a:latin typeface="Calibri"/>
              </a:rPr>
              <a:t>PyMuPDF and PDFPlumber parse PDFs preserving hierarchical headers, tables, and exact page numbers.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Contextual Chunking: </a:t>
            </a:r>
            <a:r>
              <a:rPr sz="1050">
                <a:solidFill>
                  <a:srgbClr val="1E293B"/>
                </a:solidFill>
                <a:latin typeface="Calibri"/>
              </a:rPr>
              <a:t>Sliding-window chunking retains parent-section metadata (e.g. Methodology, Limitations).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FAISS Semantic Index: </a:t>
            </a:r>
            <a:r>
              <a:rPr sz="1050">
                <a:solidFill>
                  <a:srgbClr val="1E293B"/>
                </a:solidFill>
                <a:latin typeface="Calibri"/>
              </a:rPr>
              <a:t>Indexed with SentenceTransformers (all-MiniLM-L6-v2); persistent SQLite chunk index.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Traceable Grounding: </a:t>
            </a:r>
            <a:r>
              <a:rPr sz="1050">
                <a:solidFill>
                  <a:srgbClr val="1E293B"/>
                </a:solidFill>
                <a:latin typeface="Calibri"/>
              </a:rPr>
              <a:t>Every LLM inference is strictly constrained to retrieved chunks with verified citation metadata.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06. Implementation of Project Features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Implemented system architecture, core modules, and technology stack deployed in SciLens.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52303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Implemented System Modules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8 Core Production-Ready Subsystems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68680" y="1984248"/>
            <a:ext cx="49560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1. Literature Ingestion: </a:t>
            </a:r>
            <a:r>
              <a:rPr sz="1000">
                <a:solidFill>
                  <a:srgbClr val="1E293B"/>
                </a:solidFill>
                <a:latin typeface="Calibri"/>
              </a:rPr>
              <a:t>OpenAlex, arXiv, CrossRef harvesting + local PDF upload with section-aware extraction.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2. Paper Analysis: </a:t>
            </a:r>
            <a:r>
              <a:rPr sz="1000">
                <a:solidFill>
                  <a:srgbClr val="1E293B"/>
                </a:solidFill>
                <a:latin typeface="Calibri"/>
              </a:rPr>
              <a:t>Structured extraction: methodology, sample size, population, geography, limitations, and future work.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3. Landscape Synthesis: </a:t>
            </a:r>
            <a:r>
              <a:rPr sz="1000">
                <a:solidFill>
                  <a:srgbClr val="1E293B"/>
                </a:solidFill>
                <a:latin typeface="Calibri"/>
              </a:rPr>
              <a:t>Thematic clustering, chronological trend lines, methodology distribution, and citation graph.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4. Gap Analysis: </a:t>
            </a:r>
            <a:r>
              <a:rPr sz="1000">
                <a:solidFill>
                  <a:srgbClr val="1E293B"/>
                </a:solidFill>
                <a:latin typeface="Calibri"/>
              </a:rPr>
              <a:t>Detection across 9 dimensions (methodological, population, geographic, etc.) + interactive heatmap.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5. Gap Investigator: </a:t>
            </a:r>
            <a:r>
              <a:rPr sz="1000">
                <a:solidFill>
                  <a:srgbClr val="1E293B"/>
                </a:solidFill>
                <a:latin typeface="Calibri"/>
              </a:rPr>
              <a:t>Adaptive cyclic validation loop: adversarial critic scoring, counter-querying, and confidence rating.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6. Research Development: </a:t>
            </a:r>
            <a:r>
              <a:rPr sz="1000">
                <a:solidFill>
                  <a:srgbClr val="1E293B"/>
                </a:solidFill>
                <a:latin typeface="Calibri"/>
              </a:rPr>
              <a:t>Automated formulation of aligned research questions, objectives, testable hypotheses, and methods.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7. References &amp; Verification: </a:t>
            </a:r>
            <a:r>
              <a:rPr sz="1000">
                <a:solidFill>
                  <a:srgbClr val="1E293B"/>
                </a:solidFill>
                <a:latin typeface="Calibri"/>
              </a:rPr>
              <a:t>Citation formatting in 6 academic styles (APA, IEEE, Harvard, etc.) + claim verification engine.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8. Agent Activity: </a:t>
            </a:r>
            <a:r>
              <a:rPr sz="1000">
                <a:solidFill>
                  <a:srgbClr val="1E293B"/>
                </a:solidFill>
                <a:latin typeface="Calibri"/>
              </a:rPr>
              <a:t>Transparent operational event auditing: live stream of agent decisions, tool invocations, and state shifts.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6199632" y="1234440"/>
            <a:ext cx="52303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345936" y="1344168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Technology Stack &amp; Product Cockpit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Decoupled Architecture &amp; Visual Views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336792" y="1984248"/>
            <a:ext cx="495604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Backend &amp; API: </a:t>
            </a:r>
            <a:r>
              <a:rPr sz="1000">
                <a:solidFill>
                  <a:srgbClr val="1E293B"/>
                </a:solidFill>
                <a:latin typeface="Calibri"/>
              </a:rPr>
              <a:t>Python 3.11, FastAPI (ASGI), Uvicorn, Pydantic v2, SQLAlchemy ORM, SQLite / PostgreSQL.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Agent Orchestration: </a:t>
            </a:r>
            <a:r>
              <a:rPr sz="1000">
                <a:solidFill>
                  <a:srgbClr val="1E293B"/>
                </a:solidFill>
                <a:latin typeface="Calibri"/>
              </a:rPr>
              <a:t>LangGraph StateGraph, LangChain Core &amp; Community, Multi-provider LLM abstraction.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RAG &amp; Vector Store: </a:t>
            </a:r>
            <a:r>
              <a:rPr sz="1000">
                <a:solidFill>
                  <a:srgbClr val="1E293B"/>
                </a:solidFill>
                <a:latin typeface="Calibri"/>
              </a:rPr>
              <a:t>FAISS Vector Index, SentenceTransformers (all-MiniLM-L6-v2), PyMuPDF, PDFPlumber.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 Frontend &amp; UI: </a:t>
            </a:r>
            <a:r>
              <a:rPr sz="1000">
                <a:solidFill>
                  <a:srgbClr val="1E293B"/>
                </a:solidFill>
                <a:latin typeface="Calibri"/>
              </a:rPr>
              <a:t>React 18, TypeScript, Tailwind CSS, Lucide Icons, Three.js (3D Globe), Gradio Interface.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382512" y="4069080"/>
            <a:ext cx="4864608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5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5394"/>
                </a:solidFill>
                <a:latin typeface="Calibri"/>
              </a:defRPr>
            </a:pPr>
            <a:r>
              <a:t>[ UI Screenshot Drop Zone — Paste Product Screenshot Here ]</a:t>
            </a:r>
          </a:p>
          <a:p>
            <a:pPr algn="ctr">
              <a:spcBef>
                <a:spcPts val="4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Recommended: SciLens 3D Knowledge Globe / Gap Analysis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07. Results and Outcomes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Verified empirical outputs generated across real multi-paper academic corpora (strictly zero fabricated metrics).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34015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1. 9-Dimensional Gap Discovery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Empirical Multi-Category Outcomes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68680" y="2011680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Methodological Gaps: </a:t>
            </a:r>
            <a:r>
              <a:rPr sz="1050">
                <a:solidFill>
                  <a:srgbClr val="1E293B"/>
                </a:solidFill>
                <a:latin typeface="Calibri"/>
              </a:rPr>
              <a:t>Identified reliance on static cross-sectional models and lack of longitudinal evaluation pipelines.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Population Gaps: </a:t>
            </a:r>
            <a:r>
              <a:rPr sz="1050">
                <a:solidFill>
                  <a:srgbClr val="1E293B"/>
                </a:solidFill>
                <a:latin typeface="Calibri"/>
              </a:rPr>
              <a:t>Surfaced critical demographic disparities: underrepresentation of pediatric and non-English speaking cohorts.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Geographic Gaps: </a:t>
            </a:r>
            <a:r>
              <a:rPr sz="1050">
                <a:solidFill>
                  <a:srgbClr val="1E293B"/>
                </a:solidFill>
                <a:latin typeface="Calibri"/>
              </a:rPr>
              <a:t>Detected heavy regional skew toward North American / Western European datasets in published studies.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Technological &amp; Data: </a:t>
            </a:r>
            <a:r>
              <a:rPr sz="1050">
                <a:solidFill>
                  <a:srgbClr val="1E293B"/>
                </a:solidFill>
                <a:latin typeface="Calibri"/>
              </a:rPr>
              <a:t>Flagged absence of standardized real-time multi-center clinical validation benchmarks.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379976" y="1234440"/>
            <a:ext cx="3401568" cy="4846320"/>
          </a:xfrm>
          <a:prstGeom prst="roundRect">
            <a:avLst/>
          </a:prstGeom>
          <a:solidFill>
            <a:srgbClr val="EEF5FE"/>
          </a:solidFill>
          <a:ln w="15240">
            <a:solidFill>
              <a:srgbClr val="0B5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526280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2. Contradiction &amp; Validation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Adversarial Critic Outcomes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517136" y="2011680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Contradiction Discovery: </a:t>
            </a:r>
            <a:r>
              <a:rPr sz="1050">
                <a:solidFill>
                  <a:srgbClr val="1E293B"/>
                </a:solidFill>
                <a:latin typeface="Calibri"/>
              </a:rPr>
              <a:t>Identified conflicting empirical conclusions between studies (e.g. LLM reasoning vs memorization).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Validation Statuses: </a:t>
            </a:r>
            <a:r>
              <a:rPr sz="1050">
                <a:solidFill>
                  <a:srgbClr val="1E293B"/>
                </a:solidFill>
                <a:latin typeface="Calibri"/>
              </a:rPr>
              <a:t>Accurately classified candidate gaps into VALID (corroborated void), CONTESTED (disputed), and SUPPORTED.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Cyclic Bounding: </a:t>
            </a:r>
            <a:r>
              <a:rPr sz="1050">
                <a:solidFill>
                  <a:srgbClr val="1E293B"/>
                </a:solidFill>
                <a:latin typeface="Calibri"/>
              </a:rPr>
              <a:t>Gap Investigator executed up to 3 targeted retrieval loops, successfully bounding unverified claims.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Empirical Heatmap: </a:t>
            </a:r>
            <a:r>
              <a:rPr sz="1050">
                <a:solidFill>
                  <a:srgbClr val="1E293B"/>
                </a:solidFill>
                <a:latin typeface="Calibri"/>
              </a:rPr>
              <a:t>Generated numerical cross-dimensional density heatmaps for frontend visual exploration.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028432" y="1234440"/>
            <a:ext cx="34015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174736" y="13441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3. Proposals &amp; Claim Verification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Structured Research Deliverables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165592" y="2011680"/>
            <a:ext cx="31272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Automated Formulation: </a:t>
            </a:r>
            <a:r>
              <a:rPr sz="1050">
                <a:solidFill>
                  <a:srgbClr val="1E293B"/>
                </a:solidFill>
                <a:latin typeface="Calibri"/>
              </a:rPr>
              <a:t>Generated aligned Research Questions, Objectives, Hypotheses (with IV/DV), and Methodology.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Traceable Claim Verifier: </a:t>
            </a:r>
            <a:r>
              <a:rPr sz="1050">
                <a:solidFill>
                  <a:srgbClr val="1E293B"/>
                </a:solidFill>
                <a:latin typeface="Calibri"/>
              </a:rPr>
              <a:t>Scored factual claims against indexed corpus chunks with direct quotation attribution.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Multi-Style Citations: </a:t>
            </a:r>
            <a:r>
              <a:rPr sz="1050">
                <a:solidFill>
                  <a:srgbClr val="1E293B"/>
                </a:solidFill>
                <a:latin typeface="Calibri"/>
              </a:rPr>
              <a:t>Automated citation generation across 6 standards: APA 7, IEEE, MLA 9, Harvard, Chicago, Vancouver.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Document Generation: </a:t>
            </a:r>
            <a:r>
              <a:rPr sz="1050">
                <a:solidFill>
                  <a:srgbClr val="1E293B"/>
                </a:solidFill>
                <a:latin typeface="Calibri"/>
              </a:rPr>
              <a:t>Exported complete, formatted academic proposals ready for review in both DOCX and PDF formats.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08. Analysis of Developed Solution (Strengths &amp; Weaknesses)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Objective engineering evaluation: architectural strengths, key innovations, and current operational limitations.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1520" y="1234440"/>
            <a:ext cx="5230368" cy="4846320"/>
          </a:xfrm>
          <a:prstGeom prst="roundRect">
            <a:avLst/>
          </a:prstGeom>
          <a:solidFill>
            <a:srgbClr val="EEF5FE"/>
          </a:solidFill>
          <a:ln w="15240">
            <a:solidFill>
              <a:srgbClr val="0B5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77824" y="1344168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System Strengths &amp; Technical Innovation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Core Engineering Contributions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68680" y="2011680"/>
            <a:ext cx="49560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Autonomous LangGraph State Machine: </a:t>
            </a:r>
            <a:r>
              <a:rPr sz="1050">
                <a:solidFill>
                  <a:srgbClr val="1E293B"/>
                </a:solidFill>
                <a:latin typeface="Calibri"/>
              </a:rPr>
              <a:t>Replaces brittle linear pipelines with adaptive, stateful multi-agent execution capable of cyclic backtracking and targeted re-querying.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Zero-Hallucination Grounding: </a:t>
            </a:r>
            <a:r>
              <a:rPr sz="1050">
                <a:solidFill>
                  <a:srgbClr val="1E293B"/>
                </a:solidFill>
                <a:latin typeface="Calibri"/>
              </a:rPr>
              <a:t>Eliminates generative hallucination through section-aware PDF chunking; every gap and claim cites exact paper, section, and page provenance.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Iterative Adversarial Validation: </a:t>
            </a:r>
            <a:r>
              <a:rPr sz="1050">
                <a:solidFill>
                  <a:srgbClr val="1E293B"/>
                </a:solidFill>
                <a:latin typeface="Calibri"/>
              </a:rPr>
              <a:t>Built-in Evidence Critic actively challenges candidate gaps and queries external literature before granting VALID status.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Comprehensive 9-Dimensional Taxonomy: </a:t>
            </a:r>
            <a:r>
              <a:rPr sz="1050">
                <a:solidFill>
                  <a:srgbClr val="1E293B"/>
                </a:solidFill>
                <a:latin typeface="Calibri"/>
              </a:rPr>
              <a:t>Goes beyond generic text summaries to analyze methodological, population, geographic, and dataset voids.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Transparent Operational Auditing: </a:t>
            </a:r>
            <a:r>
              <a:rPr sz="1050">
                <a:solidFill>
                  <a:srgbClr val="1E293B"/>
                </a:solidFill>
                <a:latin typeface="Calibri"/>
              </a:rPr>
              <a:t>Complete execution visibility; researchers can inspect every agent decision, tool call, and confidence score in real-time.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6199632" y="1234440"/>
            <a:ext cx="5230368" cy="484632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345936" y="1344168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000099"/>
                </a:solidFill>
                <a:latin typeface="Times New Roman"/>
              </a:defRPr>
            </a:pPr>
            <a:r>
              <a:t>System Limitations &amp; Future Scope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Current Constraints &amp; Plausible Extensions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336792" y="2011680"/>
            <a:ext cx="495604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Open-Access Literature Coverage: </a:t>
            </a:r>
            <a:r>
              <a:rPr sz="1050">
                <a:solidFill>
                  <a:srgbClr val="1E293B"/>
                </a:solidFill>
                <a:latin typeface="Calibri"/>
              </a:rPr>
              <a:t>Quality of automated discovery depends on the availability of legal open-access full-text PDFs on OpenAlex and arXiv.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Local Embedding Model Trade-offs: </a:t>
            </a:r>
            <a:r>
              <a:rPr sz="1050">
                <a:solidFill>
                  <a:srgbClr val="1E293B"/>
                </a:solidFill>
                <a:latin typeface="Calibri"/>
              </a:rPr>
              <a:t>all-MiniLM-L6-v2 offers fast offline indexing but may miss ultra-subtle semantic analogies across disparate scientific fields.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Future: Multimodal Figure Understanding: </a:t>
            </a:r>
            <a:r>
              <a:rPr sz="1050">
                <a:solidFill>
                  <a:srgbClr val="1E293B"/>
                </a:solidFill>
                <a:latin typeface="Calibri"/>
              </a:rPr>
              <a:t>Planned integration of vision-language models to extract and reason over architectural flowcharts and experimental plots.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Future: Distributed Vector Store: </a:t>
            </a:r>
            <a:r>
              <a:rPr sz="1050">
                <a:solidFill>
                  <a:srgbClr val="1E293B"/>
                </a:solidFill>
                <a:latin typeface="Calibri"/>
              </a:rPr>
              <a:t>Migrating local FAISS vector stores to enterprise distributed clusters (Milvus / Qdrant) for million-paper corpora.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 Future: Automated Starter Code Synthesis: </a:t>
            </a:r>
            <a:r>
              <a:rPr sz="1050">
                <a:solidFill>
                  <a:srgbClr val="1E293B"/>
                </a:solidFill>
                <a:latin typeface="Calibri"/>
              </a:rPr>
              <a:t>Generating baseline PyTorch implementation notebooks directly from formulated research methodologies.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508760" tIns="109728" rIns="91425" bIns="45700" anchor="t" anchorCtr="0">
            <a:noAutofit/>
          </a:bodyPr>
          <a:lstStyle/>
          <a:p>
            <a:pPr algn="l">
              <a:defRPr sz="2200" b="1">
                <a:solidFill>
                  <a:srgbClr val="000099"/>
                </a:solidFill>
                <a:latin typeface="Times New Roman"/>
              </a:defRPr>
            </a:pPr>
            <a:r>
              <a:t>Thank You</a:t>
            </a: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8686800" y="638251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787878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" y="7498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Questions, Feedback &amp; Discussion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508760" y="1508760"/>
            <a:ext cx="9144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3600" b="1">
                <a:solidFill>
                  <a:srgbClr val="000099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0B5394"/>
                </a:solidFill>
                <a:latin typeface="Times New Roman"/>
              </a:defRPr>
            </a:pPr>
            <a:r>
              <a:t>SciLens: An Agentic AI System for Automated Research Gap Identification</a:t>
            </a:r>
            <a:br/>
            <a:r>
              <a:t>and Research Intelligence</a:t>
            </a:r>
          </a:p>
          <a:p>
            <a:pPr algn="ctr">
              <a:spcBef>
                <a:spcPts val="1600"/>
              </a:spcBef>
              <a:defRPr sz="1500" b="1">
                <a:solidFill>
                  <a:srgbClr val="1E293B"/>
                </a:solidFill>
                <a:latin typeface="Times New Roman"/>
              </a:defRPr>
            </a:pPr>
            <a:r>
              <a:t>Presenter: Ananya Marghade  (PRN: 24070521004)</a:t>
            </a:r>
            <a:br/>
            <a:r>
              <a:t>Semester VI  |  Department of Computer Science &amp; Engineering</a:t>
            </a:r>
          </a:p>
          <a:p>
            <a:pPr algn="ctr">
              <a:spcBef>
                <a:spcPts val="1000"/>
              </a:spcBef>
              <a:defRPr sz="1400">
                <a:solidFill>
                  <a:srgbClr val="64748B"/>
                </a:solidFill>
                <a:latin typeface="Times New Roman"/>
              </a:defRPr>
            </a:pPr>
            <a:r>
              <a:t>Under the guidance of Dr. / Prof. [Faculty Guide Name]</a:t>
            </a:r>
            <a:br/>
            <a:r>
              <a:t>Symbiosis Institute of Technology (SIT), Nagpur Campus</a:t>
            </a:r>
          </a:p>
          <a:p>
            <a:pPr algn="ctr">
              <a:spcBef>
                <a:spcPts val="2000"/>
              </a:spcBef>
              <a:defRPr sz="1600" b="1" i="1">
                <a:solidFill>
                  <a:srgbClr val="0B5394"/>
                </a:solidFill>
                <a:latin typeface="Times New Roman"/>
              </a:defRPr>
            </a:pPr>
            <a:r>
              <a:t>— Open for Questions &amp; Discussion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Shreyas Hole</cp:lastModifiedBy>
  <cp:revision>1</cp:revision>
  <dcterms:created xsi:type="dcterms:W3CDTF">2024-06-03T04:50:38Z</dcterms:created>
  <dcterms:modified xsi:type="dcterms:W3CDTF">2026-08-25T21:16:01Z</dcterms:modified>
</cp:coreProperties>
</file>